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1" r:id="rId17"/>
    <p:sldId id="342" r:id="rId18"/>
    <p:sldId id="343"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4" d="100"/>
          <a:sy n="74" d="100"/>
        </p:scale>
        <p:origin x="296"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58035"/>
            <a:ext cx="8202591" cy="861497"/>
          </a:xfrm>
        </p:spPr>
        <p:txBody>
          <a:bodyPr vert="horz" lIns="91440" tIns="45720" rIns="91440" bIns="45720" rtlCol="0" anchor="t">
            <a:normAutofit/>
          </a:bodyPr>
          <a:lstStyle/>
          <a:p>
            <a:r>
              <a:rPr lang="en-US" b="0" dirty="0" smtClean="0">
                <a:solidFill>
                  <a:schemeClr val="tx1"/>
                </a:solidFill>
              </a:rPr>
              <a:t>Student Name – </a:t>
            </a:r>
            <a:r>
              <a:rPr lang="en-US" b="0" dirty="0" err="1" smtClean="0">
                <a:solidFill>
                  <a:schemeClr val="tx1"/>
                </a:solidFill>
              </a:rPr>
              <a:t>Amancha</a:t>
            </a:r>
            <a:r>
              <a:rPr lang="en-US" b="0" dirty="0" smtClean="0">
                <a:solidFill>
                  <a:schemeClr val="tx1"/>
                </a:solidFill>
              </a:rPr>
              <a:t> </a:t>
            </a:r>
            <a:r>
              <a:rPr lang="en-US" b="0" dirty="0" err="1" smtClean="0">
                <a:solidFill>
                  <a:schemeClr val="tx1"/>
                </a:solidFill>
              </a:rPr>
              <a:t>Sreeja</a:t>
            </a:r>
            <a:r>
              <a:rPr lang="en-US" b="0" dirty="0" smtClean="0">
                <a:solidFill>
                  <a:schemeClr val="tx1"/>
                </a:solidFill>
              </a:rPr>
              <a:t> </a:t>
            </a:r>
            <a:endParaRPr lang="en-IN" b="0" dirty="0">
              <a:solidFill>
                <a:schemeClr val="tx1"/>
              </a:solidFill>
            </a:endParaRPr>
          </a:p>
          <a:p>
            <a:r>
              <a:rPr lang="en-US" b="0" dirty="0" smtClean="0">
                <a:solidFill>
                  <a:schemeClr val="tx1"/>
                </a:solidFill>
              </a:rPr>
              <a:t>College </a:t>
            </a:r>
            <a:r>
              <a:rPr lang="en-US" b="0" dirty="0">
                <a:solidFill>
                  <a:schemeClr val="tx1"/>
                </a:solidFill>
              </a:rPr>
              <a:t>Name- </a:t>
            </a:r>
            <a:r>
              <a:rPr lang="en-US" b="0" dirty="0" err="1" smtClean="0">
                <a:solidFill>
                  <a:schemeClr val="tx1"/>
                </a:solidFill>
              </a:rPr>
              <a:t>Kakatiya</a:t>
            </a:r>
            <a:r>
              <a:rPr lang="en-US" b="0" dirty="0" smtClean="0">
                <a:solidFill>
                  <a:schemeClr val="tx1"/>
                </a:solidFill>
              </a:rPr>
              <a:t> Institute Of Technology And Science Warangal</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709501"/>
            <a:ext cx="9561191" cy="1030495"/>
          </a:xfrm>
        </p:spPr>
        <p:txBody>
          <a:bodyPr>
            <a:normAutofit fontScale="90000"/>
          </a:bodyPr>
          <a:lstStyle/>
          <a:p>
            <a:r>
              <a:rPr lang="en-GB" sz="3200" dirty="0"/>
              <a:t>Project Title </a:t>
            </a:r>
            <a:r>
              <a:rPr lang="en-GB" sz="3200" dirty="0" smtClean="0"/>
              <a:t>-</a:t>
            </a:r>
            <a:r>
              <a:rPr lang="en-US"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643456"/>
            <a:ext cx="6156163" cy="369332"/>
          </a:xfrm>
          <a:prstGeom prst="rect">
            <a:avLst/>
          </a:prstGeom>
          <a:noFill/>
        </p:spPr>
        <p:txBody>
          <a:bodyPr wrap="square" rtlCol="0">
            <a:spAutoFit/>
          </a:bodyPr>
          <a:lstStyle/>
          <a:p>
            <a:r>
              <a:rPr lang="en-US" b="1" dirty="0"/>
              <a:t>AICTE STU ID : STU68a008796f99e1755318393</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561382"/>
            <a:ext cx="6431280" cy="4148836"/>
          </a:xfrm>
        </p:spPr>
        <p:txBody>
          <a:bodyPr vert="horz" lIns="91440" tIns="45720" rIns="91440" bIns="45720" rtlCol="0" anchor="t">
            <a:normAutofit fontScale="25000" lnSpcReduction="20000"/>
          </a:bodyPr>
          <a:lstStyle/>
          <a:p>
            <a:r>
              <a:rPr lang="en-US" sz="7600" dirty="0"/>
              <a:t>Agricultural performance is influenced by seasonal variations in environmental conditions, farming practices, resource availability and other factors</a:t>
            </a:r>
            <a:r>
              <a:rPr lang="en-US" sz="8000" dirty="0"/>
              <a:t>.</a:t>
            </a:r>
          </a:p>
          <a:p>
            <a:r>
              <a:rPr lang="en-US" sz="8000" dirty="0" smtClean="0">
                <a:latin typeface="+mj-lt"/>
              </a:rPr>
              <a:t>The project analyzes agricultural data to identify </a:t>
            </a:r>
            <a:r>
              <a:rPr lang="en-US" sz="8000" b="1" dirty="0" smtClean="0">
                <a:latin typeface="+mj-lt"/>
              </a:rPr>
              <a:t>seasonal differences, patterns, trends, relationships and variations</a:t>
            </a:r>
            <a:r>
              <a:rPr lang="en-US" sz="8000" dirty="0" smtClean="0">
                <a:latin typeface="+mj-lt"/>
              </a:rPr>
              <a:t> in agricultural performance</a:t>
            </a:r>
            <a:r>
              <a:rPr lang="en-US" sz="8000" dirty="0">
                <a:latin typeface="+mj-lt"/>
              </a:rPr>
              <a:t>.</a:t>
            </a:r>
          </a:p>
          <a:p>
            <a:r>
              <a:rPr lang="en-US" sz="9600" b="1" dirty="0">
                <a:latin typeface="+mj-lt"/>
              </a:rPr>
              <a:t>Key Problem</a:t>
            </a:r>
            <a:r>
              <a:rPr lang="en-US" sz="6200" b="1" dirty="0">
                <a:latin typeface="+mj-lt"/>
              </a:rPr>
              <a:t>:</a:t>
            </a:r>
            <a:endParaRPr lang="en-US" sz="6200" dirty="0">
              <a:latin typeface="+mj-lt"/>
            </a:endParaRPr>
          </a:p>
          <a:p>
            <a:r>
              <a:rPr lang="en-US" sz="8000" dirty="0">
                <a:latin typeface="+mj-lt"/>
              </a:rPr>
              <a:t>Difficulty in understanding seasonal performance from raw agricultural data. </a:t>
            </a:r>
          </a:p>
          <a:p>
            <a:r>
              <a:rPr lang="en-US" sz="8000" dirty="0">
                <a:latin typeface="+mj-lt"/>
              </a:rPr>
              <a:t>Need for data-driven insights for better agricultural planning. </a:t>
            </a:r>
          </a:p>
          <a:p>
            <a:r>
              <a:rPr lang="en-US" sz="8000" dirty="0">
                <a:latin typeface="+mj-lt"/>
              </a:rPr>
              <a:t>This wording closely follows the problem statement in your project brief/template.</a:t>
            </a:r>
          </a:p>
          <a:p>
            <a:pPr>
              <a:lnSpc>
                <a:spcPct val="10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388189"/>
            <a:ext cx="6276109" cy="914400"/>
          </a:xfrm>
        </p:spPr>
        <p:txBody>
          <a:bodyPr>
            <a:normAutofit fontScale="90000"/>
          </a:bodyPr>
          <a:lstStyle/>
          <a:p>
            <a:r>
              <a:rPr lang="en-GB" dirty="0" smtClean="0"/>
              <a:t>Project Description</a:t>
            </a:r>
            <a:br>
              <a:rPr lang="en-GB" dirty="0" smtClean="0"/>
            </a:br>
            <a:r>
              <a:rPr lang="en-GB" dirty="0" smtClean="0"/>
              <a:t/>
            </a:r>
            <a:br>
              <a:rPr lang="en-GB" dirty="0" smtClean="0"/>
            </a:br>
            <a:r>
              <a:rPr lang="en-US" sz="2200" b="0" dirty="0" smtClean="0">
                <a:latin typeface="+mn-lt"/>
              </a:rPr>
              <a:t>Seasonal </a:t>
            </a:r>
            <a:r>
              <a:rPr lang="en-US" sz="2200" b="0" dirty="0">
                <a:latin typeface="+mn-lt"/>
              </a:rPr>
              <a:t>Agriculture Performance Analysis is a data analytics project that explores agricultural performance across different seasons, crops and regions</a:t>
            </a:r>
            <a:r>
              <a:rPr lang="en-US" sz="2200" b="0" dirty="0" smtClean="0">
                <a:latin typeface="+mn-lt"/>
              </a:rPr>
              <a:t>.</a:t>
            </a:r>
            <a:br>
              <a:rPr lang="en-US" sz="2200" b="0" dirty="0" smtClean="0">
                <a:latin typeface="+mn-lt"/>
              </a:rPr>
            </a:br>
            <a:r>
              <a:rPr lang="en-US" sz="2200" b="0" dirty="0" smtClean="0">
                <a:latin typeface="+mn-lt"/>
              </a:rPr>
              <a:t>The </a:t>
            </a:r>
            <a:r>
              <a:rPr lang="en-US" sz="2200" b="0" dirty="0">
                <a:latin typeface="+mn-lt"/>
              </a:rPr>
              <a:t>project uses data cleaning, statistical analysis and visualization to understand patterns in yield, production, profit, environmental conditions and resource usage</a:t>
            </a:r>
            <a:r>
              <a:rPr lang="en-US" sz="2200" b="0" dirty="0" smtClean="0">
                <a:latin typeface="+mn-lt"/>
              </a:rPr>
              <a:t>.</a:t>
            </a:r>
            <a:r>
              <a:rPr lang="en-US" sz="2000" b="0" dirty="0" smtClean="0"/>
              <a:t/>
            </a:r>
            <a:br>
              <a:rPr lang="en-US" sz="2000" b="0" dirty="0" smtClean="0"/>
            </a:br>
            <a:r>
              <a:rPr lang="en-US" sz="2000" b="0" dirty="0"/>
              <a:t/>
            </a:r>
            <a:br>
              <a:rPr lang="en-US" sz="2000" b="0" dirty="0"/>
            </a:br>
            <a:r>
              <a:rPr lang="en-US" sz="2700" b="0" dirty="0"/>
              <a:t>Main </a:t>
            </a:r>
            <a:r>
              <a:rPr lang="en-US" sz="2700" b="0" dirty="0" smtClean="0"/>
              <a:t>Analysis</a:t>
            </a:r>
            <a:r>
              <a:rPr lang="en-US" sz="2000" b="0" dirty="0" smtClean="0"/>
              <a:t/>
            </a:r>
            <a:br>
              <a:rPr lang="en-US" sz="2000" b="0" dirty="0" smtClean="0"/>
            </a:br>
            <a:r>
              <a:rPr lang="en-US" sz="2200" b="0" dirty="0" smtClean="0"/>
              <a:t>1.Seasonal </a:t>
            </a:r>
            <a:r>
              <a:rPr lang="en-US" sz="2200" b="0" dirty="0"/>
              <a:t>performance comparison </a:t>
            </a:r>
            <a:br>
              <a:rPr lang="en-US" sz="2200" b="0" dirty="0"/>
            </a:br>
            <a:r>
              <a:rPr lang="en-US" sz="2200" b="0" dirty="0" smtClean="0"/>
              <a:t>2.Crop-wise </a:t>
            </a:r>
            <a:r>
              <a:rPr lang="en-US" sz="2200" b="0" dirty="0"/>
              <a:t>performance analysis </a:t>
            </a:r>
            <a:br>
              <a:rPr lang="en-US" sz="2200" b="0" dirty="0"/>
            </a:br>
            <a:r>
              <a:rPr lang="en-US" sz="2200" b="0" dirty="0" smtClean="0"/>
              <a:t>3.Environmental </a:t>
            </a:r>
            <a:r>
              <a:rPr lang="en-US" sz="2200" b="0" dirty="0"/>
              <a:t>factor analysis </a:t>
            </a:r>
            <a:br>
              <a:rPr lang="en-US" sz="2200" b="0" dirty="0"/>
            </a:br>
            <a:r>
              <a:rPr lang="en-US" sz="2200" b="0" dirty="0" smtClean="0"/>
              <a:t>4.Relationship </a:t>
            </a:r>
            <a:r>
              <a:rPr lang="en-US" sz="2200" b="0" dirty="0"/>
              <a:t>and correlation analysis </a:t>
            </a:r>
            <a:br>
              <a:rPr lang="en-US" sz="2200" b="0" dirty="0"/>
            </a:br>
            <a:r>
              <a:rPr lang="en-US" sz="2200" b="0" dirty="0" smtClean="0"/>
              <a:t>5.Identification </a:t>
            </a:r>
            <a:r>
              <a:rPr lang="en-US" sz="2200" b="0" dirty="0"/>
              <a:t>of patterns and variations</a:t>
            </a:r>
            <a:r>
              <a:rPr lang="en-US" sz="2000" b="0" i="1" u="sng" dirty="0"/>
              <a:t/>
            </a:r>
            <a:br>
              <a:rPr lang="en-US" sz="2000" b="0" i="1" u="sng" dirty="0"/>
            </a:br>
            <a:r>
              <a:rPr lang="en-GB" sz="2000" b="0" i="1" u="sng" dirty="0" smtClean="0"/>
              <a:t/>
            </a:r>
            <a:br>
              <a:rPr lang="en-GB" sz="2000" b="0" i="1" u="sng" dirty="0" smtClean="0"/>
            </a:br>
            <a:endParaRPr lang="en-IN" sz="2000" b="0" i="1" u="sng"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7500" lnSpcReduction="20000"/>
          </a:bodyPr>
          <a:lstStyle/>
          <a:p>
            <a:r>
              <a:rPr lang="en-US" sz="2900" b="1" dirty="0"/>
              <a:t>Who Are the End Users?</a:t>
            </a:r>
          </a:p>
          <a:p>
            <a:r>
              <a:rPr lang="en-US" sz="2900" dirty="0"/>
              <a:t>🌾 </a:t>
            </a:r>
            <a:r>
              <a:rPr lang="en-US" sz="2900" b="1" dirty="0"/>
              <a:t>Farmers</a:t>
            </a:r>
            <a:r>
              <a:rPr lang="en-US" sz="2900" dirty="0"/>
              <a:t> — To understand crop and seasonal performance. </a:t>
            </a:r>
          </a:p>
          <a:p>
            <a:r>
              <a:rPr lang="en-US" sz="2900" dirty="0"/>
              <a:t>🏢 </a:t>
            </a:r>
            <a:r>
              <a:rPr lang="en-US" sz="2900" b="1" dirty="0"/>
              <a:t>Agricultural Organizations</a:t>
            </a:r>
            <a:r>
              <a:rPr lang="en-US" sz="2900" dirty="0"/>
              <a:t> — To support agricultural planning and decision-making. </a:t>
            </a:r>
          </a:p>
          <a:p>
            <a:r>
              <a:rPr lang="en-US" sz="2900" dirty="0"/>
              <a:t>📊 </a:t>
            </a:r>
            <a:r>
              <a:rPr lang="en-US" sz="2900" b="1" dirty="0"/>
              <a:t>Data Analysts</a:t>
            </a:r>
            <a:r>
              <a:rPr lang="en-US" sz="2900" dirty="0"/>
              <a:t> — To analyze agricultural trends and relationships. </a:t>
            </a:r>
          </a:p>
          <a:p>
            <a:r>
              <a:rPr lang="en-US" sz="2900" dirty="0"/>
              <a:t>🏛️ </a:t>
            </a:r>
            <a:r>
              <a:rPr lang="en-US" sz="2900" b="1" dirty="0"/>
              <a:t>Policy Makers</a:t>
            </a:r>
            <a:r>
              <a:rPr lang="en-US" sz="2900" dirty="0"/>
              <a:t> — To support evidence-based agricultural planning. </a:t>
            </a:r>
          </a:p>
          <a:p>
            <a:r>
              <a:rPr lang="en-US" sz="2900" dirty="0"/>
              <a:t>🌱 </a:t>
            </a:r>
            <a:r>
              <a:rPr lang="en-US" sz="2900" b="1" dirty="0"/>
              <a:t>Researchers</a:t>
            </a:r>
            <a:r>
              <a:rPr lang="en-US" sz="2900" dirty="0"/>
              <a:t> — To study seasonal and environmental effects on agriculture.</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marL="457200" lvl="1" indent="0">
              <a:lnSpc>
                <a:spcPct val="150000"/>
              </a:lnSpc>
              <a:buNone/>
            </a:pPr>
            <a:r>
              <a:rPr lang="en-IN" dirty="0"/>
              <a:t>Programming </a:t>
            </a:r>
            <a:r>
              <a:rPr lang="en-IN" dirty="0" smtClean="0"/>
              <a:t>Language – Python.</a:t>
            </a:r>
          </a:p>
          <a:p>
            <a:pPr marL="457200" lvl="1" indent="0">
              <a:lnSpc>
                <a:spcPct val="150000"/>
              </a:lnSpc>
              <a:buNone/>
            </a:pPr>
            <a:r>
              <a:rPr lang="en-IN" dirty="0" smtClean="0"/>
              <a:t>Libraries – Pandas, </a:t>
            </a:r>
            <a:r>
              <a:rPr lang="en-IN" dirty="0" err="1" smtClean="0"/>
              <a:t>NumPy</a:t>
            </a:r>
            <a:r>
              <a:rPr lang="en-IN" dirty="0" smtClean="0"/>
              <a:t>, </a:t>
            </a:r>
            <a:r>
              <a:rPr lang="en-IN" dirty="0" err="1" smtClean="0"/>
              <a:t>Matplotlib</a:t>
            </a:r>
            <a:r>
              <a:rPr lang="en-IN" dirty="0" smtClean="0"/>
              <a:t>, </a:t>
            </a:r>
            <a:r>
              <a:rPr lang="en-IN" dirty="0" err="1" smtClean="0"/>
              <a:t>Seaborn</a:t>
            </a:r>
            <a:r>
              <a:rPr lang="en-IN" dirty="0" smtClean="0"/>
              <a:t>.</a:t>
            </a:r>
            <a:br>
              <a:rPr lang="en-IN" dirty="0" smtClean="0"/>
            </a:br>
            <a:r>
              <a:rPr lang="en-IN" dirty="0" smtClean="0"/>
              <a:t>Platform - Google </a:t>
            </a:r>
            <a:r>
              <a:rPr lang="en-IN" dirty="0" err="1" smtClean="0"/>
              <a:t>Colab</a:t>
            </a:r>
            <a:r>
              <a:rPr lang="en-IN" dirty="0" smtClean="0"/>
              <a:t>.</a:t>
            </a:r>
            <a:br>
              <a:rPr lang="en-IN" dirty="0" smtClean="0"/>
            </a:br>
            <a:r>
              <a:rPr lang="en-IN" dirty="0" smtClean="0"/>
              <a:t>Techniques - Data Cleaning, Descriptive Statistics, Group-by Analysis, Correlation Analysis, Data Visualization, Outlier Analysis.</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8" y="60385"/>
            <a:ext cx="3657600" cy="776377"/>
          </a:xfrm>
        </p:spPr>
        <p:txBody>
          <a:bodyPr>
            <a:normAutofit fontScale="90000"/>
          </a:bodyPr>
          <a:lstStyle/>
          <a:p>
            <a:r>
              <a:rPr lang="en-GB" dirty="0"/>
              <a:t>RESULTS </a:t>
            </a:r>
            <a:r>
              <a:rPr lang="en-GB" dirty="0" smtClean="0"/>
              <a:t/>
            </a:r>
            <a:br>
              <a:rPr lang="en-GB" dirty="0" smtClean="0"/>
            </a:b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391961" y="1275371"/>
            <a:ext cx="7197549"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706" y="2123212"/>
            <a:ext cx="6998060" cy="4445228"/>
          </a:xfrm>
          <a:prstGeom prst="rect">
            <a:avLst/>
          </a:prstGeom>
        </p:spPr>
      </p:pic>
      <p:sp>
        <p:nvSpPr>
          <p:cNvPr id="9" name="Rectangle 3"/>
          <p:cNvSpPr>
            <a:spLocks noChangeArrowheads="1"/>
          </p:cNvSpPr>
          <p:nvPr/>
        </p:nvSpPr>
        <p:spPr bwMode="auto">
          <a:xfrm>
            <a:off x="675958" y="670416"/>
            <a:ext cx="962797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rPr>
              <a:t>Distribution of Records by Season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rPr>
              <a:t>This plot shows how the agricultural data is distributed across different seasons.</a:t>
            </a:r>
            <a:br>
              <a:rPr kumimoji="0" lang="en-US" altLang="en-US" sz="2000" b="0" i="0" u="none" strike="noStrike" cap="none" normalizeH="0" baseline="0" dirty="0" smtClean="0">
                <a:ln>
                  <a:noFill/>
                </a:ln>
                <a:solidFill>
                  <a:schemeClr val="tx1"/>
                </a:solidFill>
                <a:effectLst/>
              </a:rPr>
            </a:br>
            <a:r>
              <a:rPr kumimoji="0" lang="en-US" altLang="en-US" sz="2000" b="0" i="0" u="none" strike="noStrike" cap="none" normalizeH="0" baseline="0" dirty="0" smtClean="0">
                <a:ln>
                  <a:noFill/>
                </a:ln>
                <a:solidFill>
                  <a:schemeClr val="tx1"/>
                </a:solidFill>
                <a:effectLst/>
              </a:rPr>
              <a:t>It helps understand the number of observations available for each season before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rPr>
              <a:t> making comparisons</a:t>
            </a:r>
            <a:r>
              <a:rPr kumimoji="0" lang="en-US" altLang="en-US" sz="20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323" y="2200681"/>
            <a:ext cx="7931558" cy="4464279"/>
          </a:xfrm>
          <a:prstGeom prst="rect">
            <a:avLst/>
          </a:prstGeom>
        </p:spPr>
      </p:pic>
      <p:sp>
        <p:nvSpPr>
          <p:cNvPr id="3" name="Rectangle 1"/>
          <p:cNvSpPr>
            <a:spLocks noGrp="1" noChangeArrowheads="1"/>
          </p:cNvSpPr>
          <p:nvPr>
            <p:ph type="body" sz="quarter" idx="12"/>
          </p:nvPr>
        </p:nvSpPr>
        <p:spPr bwMode="auto">
          <a:xfrm>
            <a:off x="806450" y="1163013"/>
            <a:ext cx="111451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mj-lt"/>
              </a:rPr>
              <a:t>Average Yield by Season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mj-lt"/>
              </a:rPr>
              <a:t>This plot compares the average agricultural yield across different seasons.</a:t>
            </a:r>
            <a:br>
              <a:rPr kumimoji="0" lang="en-US" altLang="en-US" b="0" i="0" u="none" strike="noStrike" cap="none" normalizeH="0" baseline="0" dirty="0" smtClean="0">
                <a:ln>
                  <a:noFill/>
                </a:ln>
                <a:solidFill>
                  <a:schemeClr val="tx1"/>
                </a:solidFill>
                <a:effectLst/>
                <a:latin typeface="+mj-lt"/>
              </a:rPr>
            </a:br>
            <a:r>
              <a:rPr kumimoji="0" lang="en-US" altLang="en-US" b="0" i="0" u="none" strike="noStrike" cap="none" normalizeH="0" baseline="0" dirty="0" smtClean="0">
                <a:ln>
                  <a:noFill/>
                </a:ln>
                <a:solidFill>
                  <a:schemeClr val="tx1"/>
                </a:solidFill>
                <a:effectLst/>
                <a:latin typeface="+mj-lt"/>
              </a:rPr>
              <a:t>It helps identify the best-performing season and understand seasonal variations in productivity.</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293299"/>
            <a:ext cx="2981643" cy="908288"/>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9805" y="2377873"/>
            <a:ext cx="4237810" cy="4287087"/>
          </a:xfrm>
          <a:prstGeom prst="rect">
            <a:avLst/>
          </a:prstGeom>
        </p:spPr>
      </p:pic>
      <p:sp>
        <p:nvSpPr>
          <p:cNvPr id="3" name="Rectangle 1"/>
          <p:cNvSpPr>
            <a:spLocks noGrp="1" noChangeArrowheads="1"/>
          </p:cNvSpPr>
          <p:nvPr>
            <p:ph type="body" sz="quarter" idx="12"/>
          </p:nvPr>
        </p:nvSpPr>
        <p:spPr bwMode="auto">
          <a:xfrm>
            <a:off x="675958" y="1009125"/>
            <a:ext cx="901145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rPr>
              <a:t>Average Production by Crop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rPr>
              <a:t>This analysis presents the average production for each crop in the dataset.</a:t>
            </a:r>
            <a:br>
              <a:rPr kumimoji="0" lang="en-US" altLang="en-US" b="0" i="0" u="none" strike="noStrike" cap="none" normalizeH="0" baseline="0" dirty="0" smtClean="0">
                <a:ln>
                  <a:noFill/>
                </a:ln>
                <a:solidFill>
                  <a:schemeClr val="tx1"/>
                </a:solidFill>
                <a:effectLst/>
              </a:rPr>
            </a:br>
            <a:r>
              <a:rPr kumimoji="0" lang="en-US" altLang="en-US" b="0" i="0" u="none" strike="noStrike" cap="none" normalizeH="0" baseline="0" dirty="0" smtClean="0">
                <a:ln>
                  <a:noFill/>
                </a:ln>
                <a:solidFill>
                  <a:schemeClr val="tx1"/>
                </a:solidFill>
                <a:effectLst/>
              </a:rPr>
              <a:t>It helps compare the overall production performance of different crops and</a:t>
            </a:r>
            <a:br>
              <a:rPr kumimoji="0" lang="en-US" altLang="en-US" b="0" i="0" u="none" strike="noStrike" cap="none" normalizeH="0" baseline="0" dirty="0" smtClean="0">
                <a:ln>
                  <a:noFill/>
                </a:ln>
                <a:solidFill>
                  <a:schemeClr val="tx1"/>
                </a:solidFill>
                <a:effectLst/>
              </a:rPr>
            </a:br>
            <a:r>
              <a:rPr kumimoji="0" lang="en-US" altLang="en-US" b="0" i="0" u="none" strike="noStrike" cap="none" normalizeH="0" baseline="0" dirty="0" smtClean="0">
                <a:ln>
                  <a:noFill/>
                </a:ln>
                <a:solidFill>
                  <a:schemeClr val="tx1"/>
                </a:solidFill>
                <a:effectLst/>
              </a:rPr>
              <a:t> identify crops with higher average production</a:t>
            </a:r>
            <a:r>
              <a:rPr kumimoji="0" lang="en-US" altLang="en-US" sz="800" b="0" i="0" u="none" strike="noStrike" cap="none" normalizeH="0" baseline="0" dirty="0" smtClean="0">
                <a:ln>
                  <a:noFill/>
                </a:ln>
                <a:solidFill>
                  <a:schemeClr val="tx1"/>
                </a:solidFill>
                <a:effectLst/>
                <a:latin typeface="Arial" panose="020B0604020202020204" pitchFamily="34"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241541"/>
            <a:ext cx="2981643" cy="960046"/>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9523" y="2185834"/>
            <a:ext cx="4676154" cy="4041700"/>
          </a:xfrm>
          <a:prstGeom prst="rect">
            <a:avLst/>
          </a:prstGeom>
        </p:spPr>
      </p:pic>
      <p:sp>
        <p:nvSpPr>
          <p:cNvPr id="3" name="Rectangle 1"/>
          <p:cNvSpPr>
            <a:spLocks noGrp="1" noChangeArrowheads="1"/>
          </p:cNvSpPr>
          <p:nvPr>
            <p:ph type="body" sz="quarter" idx="12"/>
          </p:nvPr>
        </p:nvSpPr>
        <p:spPr bwMode="auto">
          <a:xfrm>
            <a:off x="675958" y="1009125"/>
            <a:ext cx="939777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rPr>
              <a:t>Crop-wise and Season-wise Average Yield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rPr>
              <a:t>This analysis presents the average yield for each crop across different seasons.</a:t>
            </a:r>
            <a:br>
              <a:rPr kumimoji="0" lang="en-US" altLang="en-US" b="0" i="0" u="none" strike="noStrike" cap="none" normalizeH="0" baseline="0" dirty="0" smtClean="0">
                <a:ln>
                  <a:noFill/>
                </a:ln>
                <a:solidFill>
                  <a:schemeClr val="tx1"/>
                </a:solidFill>
                <a:effectLst/>
              </a:rPr>
            </a:br>
            <a:r>
              <a:rPr kumimoji="0" lang="en-US" altLang="en-US" b="0" i="0" u="none" strike="noStrike" cap="none" normalizeH="0" baseline="0" dirty="0" smtClean="0">
                <a:ln>
                  <a:noFill/>
                </a:ln>
                <a:solidFill>
                  <a:schemeClr val="tx1"/>
                </a:solidFill>
                <a:effectLst/>
              </a:rPr>
              <a:t>It helps compare crop performance between seasons and identify crop-season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rPr>
              <a:t>combinations with higher average yield.</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258793"/>
            <a:ext cx="2981643" cy="942794"/>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565" y="2184402"/>
            <a:ext cx="8141118" cy="4559534"/>
          </a:xfrm>
          <a:prstGeom prst="rect">
            <a:avLst/>
          </a:prstGeom>
        </p:spPr>
      </p:pic>
      <p:sp>
        <p:nvSpPr>
          <p:cNvPr id="6" name="Rectangle 2"/>
          <p:cNvSpPr>
            <a:spLocks noGrp="1" noChangeArrowheads="1"/>
          </p:cNvSpPr>
          <p:nvPr>
            <p:ph type="body" sz="quarter" idx="12"/>
          </p:nvPr>
        </p:nvSpPr>
        <p:spPr bwMode="auto">
          <a:xfrm>
            <a:off x="675958" y="1009125"/>
            <a:ext cx="1062246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rPr>
              <a:t>Rainfall vs Production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rPr>
              <a:t>This scatter plot examines the relationship between rainfall and agricultural production.</a:t>
            </a:r>
            <a:br>
              <a:rPr kumimoji="0" lang="en-US" altLang="en-US" b="0" i="0" u="none" strike="noStrike" cap="none" normalizeH="0" baseline="0" dirty="0" smtClean="0">
                <a:ln>
                  <a:noFill/>
                </a:ln>
                <a:solidFill>
                  <a:schemeClr val="tx1"/>
                </a:solidFill>
                <a:effectLst/>
              </a:rPr>
            </a:br>
            <a:r>
              <a:rPr kumimoji="0" lang="en-US" altLang="en-US" b="0" i="0" u="none" strike="noStrike" cap="none" normalizeH="0" baseline="0" dirty="0" smtClean="0">
                <a:ln>
                  <a:noFill/>
                </a:ln>
                <a:solidFill>
                  <a:schemeClr val="tx1"/>
                </a:solidFill>
                <a:effectLst/>
              </a:rPr>
              <a:t>It helps determine whether changes in rainfall are associated with changes in production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rPr>
              <a:t>and identify possible patterns</a:t>
            </a:r>
            <a:r>
              <a:rPr kumimoji="0" lang="en-US" altLang="en-US" sz="800" b="0" i="0" u="none" strike="noStrike" cap="none" normalizeH="0" baseline="0" dirty="0" smtClean="0">
                <a:ln>
                  <a:noFill/>
                </a:ln>
                <a:solidFill>
                  <a:schemeClr val="tx1"/>
                </a:solidFill>
                <a:effectLst/>
                <a:latin typeface="Arial" panose="020B0604020202020204" pitchFamily="34"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2762" y="97654"/>
            <a:ext cx="4275138" cy="1118587"/>
          </a:xfrm>
        </p:spPr>
        <p:txBody>
          <a:bodyPr/>
          <a:lstStyle/>
          <a:p>
            <a:r>
              <a:rPr lang="en-GB" dirty="0"/>
              <a:t>RESULTS </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0945" y="2475655"/>
            <a:ext cx="9783986" cy="4174289"/>
          </a:xfrm>
          <a:prstGeom prst="rect">
            <a:avLst/>
          </a:prstGeom>
        </p:spPr>
      </p:pic>
      <p:sp>
        <p:nvSpPr>
          <p:cNvPr id="8" name="Rectangle 1"/>
          <p:cNvSpPr>
            <a:spLocks noGrp="1" noChangeArrowheads="1"/>
          </p:cNvSpPr>
          <p:nvPr>
            <p:ph type="body" sz="quarter" idx="12"/>
          </p:nvPr>
        </p:nvSpPr>
        <p:spPr bwMode="auto">
          <a:xfrm>
            <a:off x="582762" y="844439"/>
            <a:ext cx="1336685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rPr>
              <a:t>Correlation Matrix / </a:t>
            </a:r>
            <a:r>
              <a:rPr kumimoji="0" lang="en-US" altLang="en-US" b="1" i="0" u="none" strike="noStrike" cap="none" normalizeH="0" baseline="0" dirty="0" err="1" smtClean="0">
                <a:ln>
                  <a:noFill/>
                </a:ln>
                <a:solidFill>
                  <a:schemeClr val="tx1"/>
                </a:solidFill>
                <a:effectLst/>
              </a:rPr>
              <a:t>Heatmap</a:t>
            </a:r>
            <a:endParaRPr kumimoji="0" lang="en-US" altLang="en-US"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rPr>
              <a:t>This </a:t>
            </a:r>
            <a:r>
              <a:rPr kumimoji="0" lang="en-US" altLang="en-US" b="0" i="0" u="none" strike="noStrike" cap="none" normalizeH="0" baseline="0" dirty="0" err="1" smtClean="0">
                <a:ln>
                  <a:noFill/>
                </a:ln>
                <a:solidFill>
                  <a:schemeClr val="tx1"/>
                </a:solidFill>
                <a:effectLst/>
              </a:rPr>
              <a:t>heatmap</a:t>
            </a:r>
            <a:r>
              <a:rPr kumimoji="0" lang="en-US" altLang="en-US" b="0" i="0" u="none" strike="noStrike" cap="none" normalizeH="0" baseline="0" dirty="0" smtClean="0">
                <a:ln>
                  <a:noFill/>
                </a:ln>
                <a:solidFill>
                  <a:schemeClr val="tx1"/>
                </a:solidFill>
                <a:effectLst/>
              </a:rPr>
              <a:t> shows the strength and direction of relationships between numerical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rPr>
              <a:t>agricultural variables.</a:t>
            </a:r>
            <a:br>
              <a:rPr kumimoji="0" lang="en-US" altLang="en-US" b="0" i="0" u="none" strike="noStrike" cap="none" normalizeH="0" baseline="0" dirty="0" smtClean="0">
                <a:ln>
                  <a:noFill/>
                </a:ln>
                <a:solidFill>
                  <a:schemeClr val="tx1"/>
                </a:solidFill>
                <a:effectLst/>
              </a:rPr>
            </a:br>
            <a:r>
              <a:rPr kumimoji="0" lang="en-US" altLang="en-US" b="0" i="0" u="none" strike="noStrike" cap="none" normalizeH="0" baseline="0" dirty="0" smtClean="0">
                <a:ln>
                  <a:noFill/>
                </a:ln>
                <a:solidFill>
                  <a:schemeClr val="tx1"/>
                </a:solidFill>
                <a:effectLst/>
              </a:rPr>
              <a:t>It helps identify important relationships among factors such as yield,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rPr>
              <a:t>production, rainfall, temperature and profit</a:t>
            </a:r>
            <a:r>
              <a:rPr kumimoji="0" lang="en-US" altLang="en-US" sz="800" b="0" i="0" u="none" strike="noStrike" cap="none" normalizeH="0" baseline="0" dirty="0" smtClean="0">
                <a:ln>
                  <a:noFill/>
                </a:ln>
                <a:solidFill>
                  <a:schemeClr val="tx1"/>
                </a:solidFill>
                <a:effectLst/>
                <a:latin typeface="Arial" panose="020B0604020202020204" pitchFamily="34"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25759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RESULTS </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256" y="2740113"/>
            <a:ext cx="10058400" cy="3455269"/>
          </a:xfrm>
          <a:prstGeom prst="rect">
            <a:avLst/>
          </a:prstGeom>
        </p:spPr>
      </p:pic>
    </p:spTree>
    <p:extLst>
      <p:ext uri="{BB962C8B-B14F-4D97-AF65-F5344CB8AC3E}">
        <p14:creationId xmlns:p14="http://schemas.microsoft.com/office/powerpoint/2010/main" val="3899262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3343561" cy="458196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5"/>
          <p:cNvSpPr/>
          <p:nvPr/>
        </p:nvSpPr>
        <p:spPr>
          <a:xfrm>
            <a:off x="570064" y="1201586"/>
            <a:ext cx="7551259" cy="5355312"/>
          </a:xfrm>
          <a:prstGeom prst="rect">
            <a:avLst/>
          </a:prstGeom>
        </p:spPr>
        <p:txBody>
          <a:bodyPr wrap="square">
            <a:spAutoFit/>
          </a:bodyPr>
          <a:lstStyle/>
          <a:p>
            <a:pPr lvl="0" defTabSz="914400" eaLnBrk="0" fontAlgn="base" hangingPunct="0">
              <a:spcBef>
                <a:spcPct val="0"/>
              </a:spcBef>
              <a:spcAft>
                <a:spcPct val="0"/>
              </a:spcAft>
            </a:pPr>
            <a:endParaRPr lang="en-US" altLang="en-US" sz="2000" dirty="0"/>
          </a:p>
          <a:p>
            <a:pPr lvl="0" defTabSz="914400" eaLnBrk="0" fontAlgn="base" hangingPunct="0">
              <a:spcBef>
                <a:spcPct val="0"/>
              </a:spcBef>
              <a:spcAft>
                <a:spcPct val="0"/>
              </a:spcAft>
              <a:buFontTx/>
              <a:buChar char="•"/>
            </a:pPr>
            <a:r>
              <a:rPr lang="en-US" altLang="en-US" sz="2000" dirty="0"/>
              <a:t>Develop a predictive model for crop yield and production. </a:t>
            </a:r>
          </a:p>
          <a:p>
            <a:pPr lvl="0" defTabSz="914400" eaLnBrk="0" fontAlgn="base" hangingPunct="0">
              <a:spcBef>
                <a:spcPct val="0"/>
              </a:spcBef>
              <a:spcAft>
                <a:spcPct val="0"/>
              </a:spcAft>
              <a:buFontTx/>
              <a:buChar char="•"/>
            </a:pPr>
            <a:r>
              <a:rPr lang="en-US" altLang="en-US" sz="2000" dirty="0"/>
              <a:t>Use machine learning to predict seasonal agricultural performance. </a:t>
            </a:r>
          </a:p>
          <a:p>
            <a:pPr lvl="0" defTabSz="914400" eaLnBrk="0" fontAlgn="base" hangingPunct="0">
              <a:spcBef>
                <a:spcPct val="0"/>
              </a:spcBef>
              <a:spcAft>
                <a:spcPct val="0"/>
              </a:spcAft>
              <a:buFontTx/>
              <a:buChar char="•"/>
            </a:pPr>
            <a:r>
              <a:rPr lang="en-US" altLang="en-US" sz="2000" dirty="0"/>
              <a:t>Incorporate real-time weather and environmental data. </a:t>
            </a:r>
          </a:p>
          <a:p>
            <a:pPr lvl="0" defTabSz="914400" eaLnBrk="0" fontAlgn="base" hangingPunct="0">
              <a:spcBef>
                <a:spcPct val="0"/>
              </a:spcBef>
              <a:spcAft>
                <a:spcPct val="0"/>
              </a:spcAft>
              <a:buFontTx/>
              <a:buChar char="•"/>
            </a:pPr>
            <a:r>
              <a:rPr lang="en-US" altLang="en-US" sz="2000" dirty="0"/>
              <a:t>Develop an interactive agricultural dashboard. </a:t>
            </a:r>
          </a:p>
          <a:p>
            <a:pPr lvl="0" defTabSz="914400" eaLnBrk="0" fontAlgn="base" hangingPunct="0">
              <a:spcBef>
                <a:spcPct val="0"/>
              </a:spcBef>
              <a:spcAft>
                <a:spcPct val="0"/>
              </a:spcAft>
              <a:buFontTx/>
              <a:buChar char="•"/>
            </a:pPr>
            <a:r>
              <a:rPr lang="en-US" altLang="en-US" sz="2000" dirty="0"/>
              <a:t>Provide crop and season recommendations to farmers. </a:t>
            </a:r>
          </a:p>
          <a:p>
            <a:r>
              <a:rPr lang="en-US" altLang="en-US" sz="2000" dirty="0"/>
              <a:t>Extend the analysis to larger and more diverse datasets. </a:t>
            </a:r>
            <a:r>
              <a:rPr lang="en-US" altLang="en-US" dirty="0" smtClean="0">
                <a:latin typeface="Arial" panose="020B0604020202020204" pitchFamily="34" charset="0"/>
              </a:rPr>
              <a:t/>
            </a:r>
            <a:br>
              <a:rPr lang="en-US" altLang="en-US" dirty="0" smtClean="0">
                <a:latin typeface="Arial" panose="020B0604020202020204" pitchFamily="34" charset="0"/>
              </a:rPr>
            </a:br>
            <a:r>
              <a:rPr lang="en-US" altLang="en-US" dirty="0" smtClean="0">
                <a:latin typeface="Arial" panose="020B0604020202020204" pitchFamily="34" charset="0"/>
              </a:rPr>
              <a:t/>
            </a:r>
            <a:br>
              <a:rPr lang="en-US" altLang="en-US" dirty="0" smtClean="0">
                <a:latin typeface="Arial" panose="020B0604020202020204" pitchFamily="34" charset="0"/>
              </a:rPr>
            </a:br>
            <a:r>
              <a:rPr lang="en-US" sz="2400" b="1" dirty="0"/>
              <a:t>Conclusion</a:t>
            </a:r>
          </a:p>
          <a:p>
            <a:r>
              <a:rPr lang="en-US" sz="2000" dirty="0"/>
              <a:t>The project successfully analyzed the agricultural dataset to understand </a:t>
            </a:r>
            <a:r>
              <a:rPr lang="en-US" sz="2000" b="1" dirty="0"/>
              <a:t>seasonal variations, crop performance and relationships between important agricultural variables</a:t>
            </a:r>
            <a:r>
              <a:rPr lang="en-US" sz="2000" dirty="0"/>
              <a:t>.</a:t>
            </a:r>
          </a:p>
          <a:p>
            <a:r>
              <a:rPr lang="en-US" sz="2000" dirty="0"/>
              <a:t>Data visualization and statistical analysis provided meaningful insights that can support </a:t>
            </a:r>
            <a:r>
              <a:rPr lang="en-US" sz="2000" b="1" dirty="0"/>
              <a:t>better agricultural planning, resource management and evidence-based decision-making</a:t>
            </a:r>
            <a:r>
              <a:rPr lang="en-US" sz="2000" dirty="0"/>
              <a:t>.</a:t>
            </a:r>
          </a:p>
          <a:p>
            <a:pPr lvl="0" defTabSz="914400" eaLnBrk="0" fontAlgn="base" hangingPunct="0">
              <a:spcBef>
                <a:spcPct val="0"/>
              </a:spcBef>
              <a:spcAft>
                <a:spcPct val="0"/>
              </a:spcAft>
              <a:buFontTx/>
              <a:buChar char="•"/>
            </a:pPr>
            <a:endParaRPr lang="en-US" altLang="en-US" sz="2000" dirty="0">
              <a:latin typeface="Arial" panose="020B0604020202020204" pitchFamily="34"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https://github.com/iamsreeja/SEASONAL-AGRICULTURE-PERFORMANCE-ANALYSIS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2762" y="1608410"/>
            <a:ext cx="7112366" cy="503580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16c05727-aa75-4e4a-9b5f-8a80a1165891"/>
    <ds:schemaRef ds:uri="http://schemas.microsoft.com/office/2006/metadata/properties"/>
    <ds:schemaRef ds:uri="http://schemas.microsoft.com/office/2006/documentManagement/types"/>
    <ds:schemaRef ds:uri="http://www.w3.org/XML/1998/namespace"/>
    <ds:schemaRef ds:uri="http://purl.org/dc/dcmitype/"/>
    <ds:schemaRef ds:uri="http://purl.org/dc/terms/"/>
    <ds:schemaRef ds:uri="http://schemas.microsoft.com/office/infopath/2007/PartnerControls"/>
    <ds:schemaRef ds:uri="http://schemas.openxmlformats.org/package/2006/metadata/core-properties"/>
    <ds:schemaRef ds:uri="71af3243-3dd4-4a8d-8c0d-dd76da1f02a5"/>
    <ds:schemaRef ds:uri="http://purl.org/dc/elements/1.1/"/>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1450</TotalTime>
  <Words>364</Words>
  <Application>Microsoft Office PowerPoint</Application>
  <PresentationFormat>Widescreen</PresentationFormat>
  <Paragraphs>63</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Seasonal Agriculture Performance Analysis is a data analytics project that explores agricultural performance across different seasons, crops and regions. The project uses data cleaning, statistical analysis and visualization to understand patterns in yield, production, profit, environmental conditions and resource usage.  Main Analysis 1.Seasonal performance comparison  2.Crop-wise performance analysis  3.Environmental factor analysis  4.Relationship and correlation analysis  5.Identification of patterns and variations  </vt:lpstr>
      <vt:lpstr>WHO ARE THE END USERS?</vt:lpstr>
      <vt:lpstr>Technology Used</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User</cp:lastModifiedBy>
  <cp:revision>108</cp:revision>
  <dcterms:created xsi:type="dcterms:W3CDTF">2021-07-11T13:13:15Z</dcterms:created>
  <dcterms:modified xsi:type="dcterms:W3CDTF">2026-09-15T18:54:07Z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